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120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807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087F78"/>
                </a:solidFill>
                <a:latin typeface="Aptos"/>
              </a:rPr>
              <a:t>PHARMAX  /  OPEN AGENT HACKATHON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 &amp;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33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233436"/>
                </a:solidFill>
                <a:latin typeface="Aptos"/>
              </a:rPr>
              <a:t>Spot medicine shortages early.</a:t>
            </a:r>
            <a:endParaRPr lang="en-US" sz="3300" dirty="0"/>
          </a:p>
          <a:p>
            <a:r>
              <a:rPr sz="3000">
                <a:solidFill>
                  <a:srgbClr val="233436"/>
                </a:solidFill>
                <a:latin typeface="Aptos"/>
              </a:rPr>
              <a:t>Get essential supplies where they are needed.</a:t>
            </a:r>
          </a:p>
        </p:txBody>
      </p:sp>
      <p:sp>
        <p:nvSpPr>
          <p:cNvPr id="9" name="Shape 7"/>
          <p:cNvSpPr/>
          <p:nvPr/>
        </p:nvSpPr>
        <p:spPr>
          <a:xfrm>
            <a:off x="530352" y="2898648"/>
            <a:ext cx="2386584" cy="347472"/>
          </a:xfrm>
          <a:prstGeom prst="roundRect">
            <a:avLst>
              <a:gd name="adj" fmla="val 47368"/>
            </a:avLst>
          </a:prstGeom>
          <a:solidFill>
            <a:srgbClr val="E8F3F1"/>
          </a:solidFill>
          <a:ln w="12700">
            <a:solidFill>
              <a:srgbClr val="293C3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9224" y="2962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599432"/>
            <a:ext cx="5943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15191C"/>
                </a:solidFill>
                <a:latin typeface="Aptos"/>
              </a:rPr>
              <a:t>For pharmacy supply teams: connect manufacturer notices, shipment claims and hospital inventory to predict shortages and recommend reviewed transfers.</a:t>
            </a:r>
            <a:endParaRPr lang="en-US" sz="1800" dirty="0"/>
          </a:p>
        </p:txBody>
      </p:sp>
      <p:pic>
        <p:nvPicPr>
          <p:cNvPr id="12" name="Image 0" descr="/mnt/data/image(20261027-21130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25880"/>
            <a:ext cx="4215384" cy="416966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60920" y="1325880"/>
            <a:ext cx="4215384" cy="4169664"/>
          </a:xfrm>
          <a:prstGeom prst="rect">
            <a:avLst/>
          </a:prstGeom>
          <a:solidFill>
            <a:srgbClr val="F7F8F7"/>
          </a:solidFill>
          <a:ln w="12700">
            <a:solidFill>
              <a:srgbClr val="12161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A2EE97-8EEC-F4FC-D62D-8B77FC1EC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107" y="1260529"/>
            <a:ext cx="5183375" cy="32373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>
                <a:solidFill>
                  <a:srgbClr val="233436"/>
                </a:solidFill>
                <a:latin typeface="Aptos"/>
              </a:rPr>
              <a:t>When supply breaks, hospitals run short.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233436"/>
                </a:solidFill>
                <a:latin typeface="Aptos"/>
              </a:rPr>
              <a:t>A factory disruption can leave one hospital short while another has spare stock. Teams need to find the gaps and evaluate safe transfers before supplies run 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2148840"/>
            <a:ext cx="3456432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02336" cy="402336"/>
          </a:xfrm>
          <a:prstGeom prst="ellipse">
            <a:avLst/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008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233436"/>
                </a:solidFill>
                <a:latin typeface="Aptos"/>
              </a:rPr>
              <a:t>1  Supply disrupted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233436"/>
                </a:solidFill>
                <a:latin typeface="Aptos"/>
              </a:rPr>
              <a:t>Manufacturing slows or stops.</a:t>
            </a:r>
            <a:endParaRPr lang="en-US" sz="1400" dirty="0"/>
          </a:p>
          <a:p>
            <a:r>
              <a:rPr sz="1500">
                <a:solidFill>
                  <a:srgbClr val="233436"/>
                </a:solidFill>
                <a:latin typeface="Aptos"/>
              </a:rPr>
              <a:t>Fewer saline bags enter the network.</a:t>
            </a:r>
          </a:p>
        </p:txBody>
      </p:sp>
      <p:sp>
        <p:nvSpPr>
          <p:cNvPr id="12" name="Shape 10"/>
          <p:cNvSpPr/>
          <p:nvPr/>
        </p:nvSpPr>
        <p:spPr>
          <a:xfrm>
            <a:off x="4535424" y="2148840"/>
            <a:ext cx="3456432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8032" y="2423160"/>
            <a:ext cx="402336" cy="402336"/>
          </a:xfrm>
          <a:prstGeom prst="ellipse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3008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233436"/>
                </a:solidFill>
                <a:latin typeface="Aptos"/>
              </a:rPr>
              <a:t>2  Deliveries fall short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28032" y="352044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233436"/>
                </a:solidFill>
                <a:latin typeface="Aptos"/>
              </a:rPr>
              <a:t>Orders may be delayed or partially filled.</a:t>
            </a:r>
            <a:endParaRPr lang="en-US" sz="1400" dirty="0"/>
          </a:p>
          <a:p>
            <a:r>
              <a:rPr sz="1500">
                <a:solidFill>
                  <a:srgbClr val="233436"/>
                </a:solidFill>
                <a:latin typeface="Aptos"/>
              </a:rPr>
              <a:t>Available supply becomes uncertain.</a:t>
            </a:r>
          </a:p>
        </p:txBody>
      </p:sp>
      <p:sp>
        <p:nvSpPr>
          <p:cNvPr id="16" name="Shape 14"/>
          <p:cNvSpPr/>
          <p:nvPr/>
        </p:nvSpPr>
        <p:spPr>
          <a:xfrm>
            <a:off x="8449056" y="2148840"/>
            <a:ext cx="3456432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41664" y="2423160"/>
            <a:ext cx="402336" cy="402336"/>
          </a:xfrm>
          <a:prstGeom prst="ellipse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41664" y="3008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233436"/>
                </a:solidFill>
                <a:latin typeface="Aptos"/>
              </a:rPr>
              <a:t>3  Hospitals face shortages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41664" y="352044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233436"/>
                </a:solidFill>
                <a:latin typeface="Aptos"/>
              </a:rPr>
              <a:t>Some hospitals risk running out;</a:t>
            </a:r>
            <a:endParaRPr lang="en-US" sz="1400" dirty="0"/>
          </a:p>
          <a:p>
            <a:r>
              <a:rPr sz="1500">
                <a:solidFill>
                  <a:srgbClr val="233436"/>
                </a:solidFill>
                <a:latin typeface="Aptos"/>
              </a:rPr>
              <a:t>others may have transferable stock.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800">
                <a:solidFill>
                  <a:srgbClr val="233436"/>
                </a:solidFill>
                <a:latin typeface="Aptos"/>
              </a:rPr>
              <a:t>PharmaX maps the disruption, predicts unmet demand and identifies feasible transfers that protect both receiving and donating hospitals.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15191C"/>
                </a:solidFill>
                <a:latin typeface="Aptos"/>
              </a:rPr>
              <a:t>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A single investigation links evidence to a shortage forecast and an actionable review draft.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883664" cy="16002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2606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" y="318211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Connect records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459736" y="3163824"/>
            <a:ext cx="38404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52344" y="3095244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52344" y="3232404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80360" y="2404872"/>
            <a:ext cx="1883664" cy="16002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26664" y="2606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26664" y="318211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Match medicines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91456" y="3163824"/>
            <a:ext cx="38404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84064" y="3095244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4064" y="3232404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30368" y="2404872"/>
            <a:ext cx="1883664" cy="16002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76672" y="2606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76672" y="318211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Check claims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141464" y="3163824"/>
            <a:ext cx="38404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34072" y="3095244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34072" y="3232404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80376" y="2404872"/>
            <a:ext cx="1883664" cy="16002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26680" y="2606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26680" y="318211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Predict shortages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491472" y="3163824"/>
            <a:ext cx="38404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84080" y="3095244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84080" y="3232404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930384" y="2404872"/>
            <a:ext cx="1883664" cy="1600200"/>
          </a:xfrm>
          <a:prstGeom prst="roundRect">
            <a:avLst>
              <a:gd name="adj" fmla="val 13714"/>
            </a:avLst>
          </a:prstGeom>
          <a:solidFill>
            <a:srgbClr val="DDF0EB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76688" y="2606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076688" y="318211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Propose transfers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60120" y="47274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BF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342</a:t>
            </a:r>
            <a:endParaRPr lang="en-US" sz="3500" dirty="0"/>
          </a:p>
        </p:txBody>
      </p:sp>
      <p:sp>
        <p:nvSpPr>
          <p:cNvPr id="36" name="Text 34"/>
          <p:cNvSpPr/>
          <p:nvPr/>
        </p:nvSpPr>
        <p:spPr>
          <a:xfrm>
            <a:off x="2404872" y="4846320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172968" y="472744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3500" dirty="0"/>
          </a:p>
        </p:txBody>
      </p:sp>
      <p:sp>
        <p:nvSpPr>
          <p:cNvPr id="38" name="Text 36"/>
          <p:cNvSpPr/>
          <p:nvPr/>
        </p:nvSpPr>
        <p:spPr>
          <a:xfrm>
            <a:off x="4224528" y="4782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unmet saline bags after evaluated transfers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58368" y="5650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forecast · three synthetic hospitals · human pharmacy review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AGENT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15191C"/>
                </a:solidFill>
                <a:latin typeface="Aptos"/>
              </a:rPr>
              <a:t>Agent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233436"/>
                </a:solidFill>
                <a:latin typeface="Aptos"/>
              </a:rPr>
              <a:t>12 coordinated roles share evidence, challenge proposals and validate what can safely be recommended.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2240280"/>
            <a:ext cx="2112264" cy="1298448"/>
          </a:xfrm>
          <a:prstGeom prst="roundRect">
            <a:avLst>
              <a:gd name="adj" fmla="val 16197"/>
            </a:avLst>
          </a:prstGeom>
          <a:solidFill>
            <a:srgbClr val="E8F3F1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233436"/>
                </a:solidFill>
                <a:latin typeface="Aptos"/>
              </a:rPr>
              <a:t>Coordinator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9352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233436"/>
                </a:solidFill>
                <a:latin typeface="Aptos"/>
              </a:rPr>
              <a:t>Delegates tasks; synthesizes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61488" y="2880360"/>
            <a:ext cx="29260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62656" y="2811780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62656" y="2948940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90672" y="2240280"/>
            <a:ext cx="2112264" cy="1298448"/>
          </a:xfrm>
          <a:prstGeom prst="roundRect">
            <a:avLst>
              <a:gd name="adj" fmla="val 16197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233436"/>
                </a:solidFill>
                <a:latin typeface="Aptos"/>
              </a:rPr>
              <a:t>Evidence &amp; context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18688" y="29352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233436"/>
                </a:solidFill>
                <a:latin typeface="Aptos"/>
              </a:rPr>
              <a:t>News · Verification · Trade</a:t>
            </a:r>
            <a:endParaRPr lang="en-US" sz="1100" dirty="0"/>
          </a:p>
          <a:p>
            <a:r>
              <a:rPr sz="1100">
                <a:solidFill>
                  <a:srgbClr val="233436"/>
                </a:solidFill>
                <a:latin typeface="Aptos"/>
              </a:rPr>
              <a:t>Dependency · Disruption</a:t>
            </a:r>
          </a:p>
        </p:txBody>
      </p:sp>
      <p:sp>
        <p:nvSpPr>
          <p:cNvPr id="17" name="Shape 15"/>
          <p:cNvSpPr/>
          <p:nvPr/>
        </p:nvSpPr>
        <p:spPr>
          <a:xfrm>
            <a:off x="5230368" y="2880360"/>
            <a:ext cx="29260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31536" y="2811780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31536" y="2948940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59552" y="2240280"/>
            <a:ext cx="2112264" cy="1298448"/>
          </a:xfrm>
          <a:prstGeom prst="roundRect">
            <a:avLst>
              <a:gd name="adj" fmla="val 16197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87568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800">
                <a:solidFill>
                  <a:srgbClr val="233436"/>
                </a:solidFill>
                <a:latin typeface="Aptos"/>
              </a:rPr>
              <a:t>Assessment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87568" y="29352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233436"/>
                </a:solidFill>
                <a:latin typeface="Aptos"/>
              </a:rPr>
              <a:t>Hospital · Clinical</a:t>
            </a:r>
            <a:endParaRPr lang="en-US" sz="1100" dirty="0"/>
          </a:p>
          <a:p>
            <a:r>
              <a:rPr sz="1100">
                <a:solidFill>
                  <a:srgbClr val="233436"/>
                </a:solidFill>
                <a:latin typeface="Aptos"/>
              </a:rPr>
              <a:t>Mitigation · Feasibility</a:t>
            </a:r>
          </a:p>
        </p:txBody>
      </p:sp>
      <p:sp>
        <p:nvSpPr>
          <p:cNvPr id="23" name="Shape 21"/>
          <p:cNvSpPr/>
          <p:nvPr/>
        </p:nvSpPr>
        <p:spPr>
          <a:xfrm>
            <a:off x="7699248" y="2880360"/>
            <a:ext cx="292608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0416" y="2811780"/>
            <a:ext cx="91440" cy="6858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00416" y="2948940"/>
            <a:ext cx="91440" cy="0"/>
          </a:xfrm>
          <a:prstGeom prst="line">
            <a:avLst/>
          </a:prstGeom>
          <a:noFill/>
          <a:ln w="22860">
            <a:solidFill>
              <a:srgbClr val="087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28432" y="2240280"/>
            <a:ext cx="2112264" cy="1298448"/>
          </a:xfrm>
          <a:prstGeom prst="roundRect">
            <a:avLst>
              <a:gd name="adj" fmla="val 16197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56448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33436"/>
                </a:solidFill>
                <a:latin typeface="Aptos"/>
              </a:rPr>
              <a:t>Memory &amp; delivery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56448" y="29352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233436"/>
                </a:solidFill>
                <a:latin typeface="Aptos"/>
              </a:rPr>
              <a:t>Memory · Actions</a:t>
            </a:r>
            <a:endParaRPr lang="en-US" sz="1100" dirty="0"/>
          </a:p>
          <a:p>
            <a:r>
              <a:rPr sz="1100">
                <a:solidFill>
                  <a:srgbClr val="233436"/>
                </a:solidFill>
                <a:latin typeface="Aptos"/>
              </a:rPr>
              <a:t>Retain constraints; draft review</a:t>
            </a:r>
          </a:p>
        </p:txBody>
      </p:sp>
      <p:sp>
        <p:nvSpPr>
          <p:cNvPr id="29" name="Shape 27"/>
          <p:cNvSpPr/>
          <p:nvPr/>
        </p:nvSpPr>
        <p:spPr>
          <a:xfrm>
            <a:off x="10469880" y="2240280"/>
            <a:ext cx="896112" cy="1298448"/>
          </a:xfrm>
          <a:prstGeom prst="roundRect">
            <a:avLst>
              <a:gd name="adj" fmla="val 22449"/>
            </a:avLst>
          </a:prstGeom>
          <a:solidFill>
            <a:srgbClr val="FBEDEE"/>
          </a:solidFill>
          <a:ln w="12700">
            <a:solidFill>
              <a:srgbClr val="FBED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52176" y="26243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233436"/>
                </a:solidFill>
                <a:latin typeface="Aptos"/>
              </a:rPr>
              <a:t>Review</a:t>
            </a:r>
            <a:endParaRPr lang="en-US" sz="1300" dirty="0"/>
          </a:p>
          <a:p>
            <a:r>
              <a:rPr sz="1300">
                <a:solidFill>
                  <a:srgbClr val="233436"/>
                </a:solidFill>
                <a:latin typeface="Aptos"/>
              </a:rPr>
              <a:t>loop</a:t>
            </a:r>
          </a:p>
        </p:txBody>
      </p:sp>
      <p:sp>
        <p:nvSpPr>
          <p:cNvPr id="31" name="Shape 29"/>
          <p:cNvSpPr/>
          <p:nvPr/>
        </p:nvSpPr>
        <p:spPr>
          <a:xfrm>
            <a:off x="10808208" y="3767328"/>
            <a:ext cx="0" cy="0"/>
          </a:xfrm>
          <a:prstGeom prst="line">
            <a:avLst/>
          </a:prstGeom>
          <a:noFill/>
          <a:ln w="21590">
            <a:solidFill>
              <a:srgbClr val="087F7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99232" y="39593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233436"/>
                </a:solidFill>
                <a:latin typeface="Aptos"/>
              </a:rPr>
              <a:t>Evidence → assessment → critique → revised/blocked decision. Recalled failures constrain proposals; only supported findings reach the coordinator.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" y="4892040"/>
            <a:ext cx="10744200" cy="777240"/>
          </a:xfrm>
          <a:prstGeom prst="roundRect">
            <a:avLst>
              <a:gd name="adj" fmla="val 27059"/>
            </a:avLst>
          </a:prstGeom>
          <a:solidFill>
            <a:srgbClr val="EEF2F2"/>
          </a:solidFill>
          <a:ln w="12700">
            <a:solidFill>
              <a:srgbClr val="EEF2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50566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233436"/>
                </a:solidFill>
                <a:latin typeface="Aptos"/>
              </a:rPr>
              <a:t>12 roles executed  ·  11 findings validated  ·  Hospital finding rejected and excluded downstream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TECHNICAL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15191C"/>
                </a:solidFill>
                <a:latin typeface="Aptos"/>
              </a:rPr>
              <a:t>Technical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From data retrieval to constrained decisions: one traced investigation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3504" y="2103120"/>
            <a:ext cx="2560320" cy="841248"/>
          </a:xfrm>
          <a:prstGeom prst="roundRect">
            <a:avLst>
              <a:gd name="adj" fmla="val 22826"/>
            </a:avLst>
          </a:prstGeom>
          <a:solidFill>
            <a:srgbClr val="DFF0ED"/>
          </a:solidFill>
          <a:ln w="12700">
            <a:solidFill>
              <a:srgbClr val="DFF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768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087F78"/>
                </a:solidFill>
                <a:latin typeface="Aptos"/>
              </a:rPr>
              <a:t>01  SOURCE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93008" y="213969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Zetaris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84648" y="2084832"/>
            <a:ext cx="6117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Join manufacturer allocation notices with hospital inventory and receipt records; normalize product codes.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145536"/>
            <a:ext cx="10725912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" y="3364992"/>
            <a:ext cx="2560320" cy="841248"/>
          </a:xfrm>
          <a:prstGeom prst="roundRect">
            <a:avLst>
              <a:gd name="adj" fmla="val 22826"/>
            </a:avLst>
          </a:prstGeom>
          <a:solidFill>
            <a:srgbClr val="EDF1F1"/>
          </a:solidFill>
          <a:ln w="12700">
            <a:solidFill>
              <a:srgbClr val="EDF1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087F78"/>
                </a:solidFill>
                <a:latin typeface="Aptos"/>
              </a:rPr>
              <a:t>02  AGENT SYSTEM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Nemotron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84648" y="3346704"/>
            <a:ext cx="6117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Coordinator and 11 specialists use Nightshift model calls and tools to examine evidence and draft decisions.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4407408"/>
            <a:ext cx="10725912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" y="4626864"/>
            <a:ext cx="2560320" cy="841248"/>
          </a:xfrm>
          <a:prstGeom prst="roundRect">
            <a:avLst>
              <a:gd name="adj" fmla="val 22826"/>
            </a:avLst>
          </a:prstGeom>
          <a:solidFill>
            <a:srgbClr val="EDF1F1"/>
          </a:solidFill>
          <a:ln w="12700">
            <a:solidFill>
              <a:srgbClr val="EDF1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087F78"/>
                </a:solidFill>
                <a:latin typeface="Aptos"/>
              </a:rPr>
              <a:t>03  MEMORY + GUARDS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93008" y="46634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H-MEM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84648" y="4608576"/>
            <a:ext cx="6117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Recall rejected candidates; validate evidence, recalculate shortages and require pharmacy review.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" y="5669280"/>
            <a:ext cx="10725912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" y="608990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9717A"/>
                </a:solidFill>
                <a:latin typeface="Aptos"/>
              </a:rPr>
              <a:t>Python orchestration + typed API  →  Zetaris source queries  →  Nemotron via Meterless Nightshift  →  FEFO forecast + review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DISTINCTIVE SPONSOR 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15191C"/>
                </a:solidFill>
                <a:latin typeface="Aptos"/>
              </a:rPr>
              <a:t>Why the integrations matter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The data, model and memory layers constrain the same operational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2084832"/>
            <a:ext cx="301752" cy="301752"/>
          </a:xfrm>
          <a:prstGeom prst="ellipse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30552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98424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0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Zetaris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72384" y="1993392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Cross-system product matching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96328" y="1993392"/>
            <a:ext cx="4233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Manufacturer item → NDC → local item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2679192"/>
            <a:ext cx="1010412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4088" y="3026664"/>
            <a:ext cx="301752" cy="301752"/>
          </a:xfrm>
          <a:prstGeom prst="ellipse">
            <a:avLst/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072384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25296" y="292608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Evidence verification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072384" y="2935224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Shipping claim versus hospital receipt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96328" y="2935224"/>
            <a:ext cx="4233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800 shipped / 500 received → 300 unconfirmed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8720" y="3621024"/>
            <a:ext cx="1010412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" y="3968496"/>
            <a:ext cx="301752" cy="301752"/>
          </a:xfrm>
          <a:prstGeom prst="ellipse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014216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25296" y="386791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Memory limits proposals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072384" y="3877056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Previously rejected options stay flagged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96328" y="3877056"/>
            <a:ext cx="4233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5 recalled records constrain subsequent review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4562856"/>
            <a:ext cx="1010412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4088" y="4910328"/>
            <a:ext cx="301752" cy="301752"/>
          </a:xfrm>
          <a:prstGeom prst="ellipse">
            <a:avLst/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956048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25296" y="480974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15191C"/>
                </a:solidFill>
                <a:latin typeface="Aptos"/>
              </a:rPr>
              <a:t>Feasibility checks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072384" y="4818888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Only reviewable options are proposed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96328" y="4818888"/>
            <a:ext cx="4233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9717A"/>
                </a:solidFill>
                <a:latin typeface="Aptos"/>
              </a:rPr>
              <a:t>Reject options that create donor shortages or assume unconfirmed supply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88720" y="5504688"/>
            <a:ext cx="1010412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2376" y="5934456"/>
            <a:ext cx="3456432" cy="347472"/>
          </a:xfrm>
          <a:prstGeom prst="roundRect">
            <a:avLst>
              <a:gd name="adj" fmla="val 47368"/>
            </a:avLst>
          </a:prstGeom>
          <a:solidFill>
            <a:srgbClr val="E8F3F1"/>
          </a:solidFill>
          <a:ln w="12700">
            <a:solidFill>
              <a:srgbClr val="E8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1248" y="599846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087F78"/>
                </a:solidFill>
                <a:latin typeface="Aptos"/>
              </a:rPr>
              <a:t>Distinctive: validated claims + inter-agent constraints, not 12 independent summaries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PRODUCT VISUALS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case, three interfaces.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can reproduce the narrative from overview to evidence to action.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9496" y="1938528"/>
            <a:ext cx="3575304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9224" y="48097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Overview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07408" y="1938528"/>
            <a:ext cx="3575304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17136" y="48097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Investigation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75320" y="1938528"/>
            <a:ext cx="3575304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016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385048" y="48097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Agent execution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76656" y="5788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sourced chat and review drawers complete the operator workflow.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4E65D36-9EDC-4069-3006-933198B55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31638"/>
            <a:ext cx="3393164" cy="21192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2C07E5-4B84-BED8-559B-185309626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983" y="2221992"/>
            <a:ext cx="3462848" cy="21546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C4CB3B-5C98-1880-1885-B26114C44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339" y="2361684"/>
            <a:ext cx="3497265" cy="2182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FEEDBACK &amp; ITERATION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15191C"/>
                </a:solidFill>
                <a:latin typeface="Aptos"/>
              </a:rPr>
              <a:t>Built from operational feedback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0">
                <a:solidFill>
                  <a:srgbClr val="69717A"/>
                </a:solidFill>
                <a:latin typeface="Aptos"/>
              </a:rPr>
              <a:t>Industry advisor Kulathusarma highlighted the hardest deployment problem: linking records across organizations and verifying what was actually delivered. Feedback shared by Robbie Harris.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" y="1993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90472" y="1993392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15191C"/>
                </a:solidFill>
                <a:latin typeface="Aptos"/>
              </a:rPr>
              <a:t>Connect systems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803904" y="197510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69717A"/>
                </a:solidFill>
                <a:latin typeface="Aptos"/>
              </a:rPr>
              <a:t>Join manufacturer availability and hospital demand records.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4088" y="2670048"/>
            <a:ext cx="1065276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9626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90472" y="296265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15191C"/>
                </a:solidFill>
                <a:latin typeface="Aptos"/>
              </a:rPr>
              <a:t>Check claims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03904" y="29443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69717A"/>
                </a:solidFill>
                <a:latin typeface="Aptos"/>
              </a:rPr>
              <a:t>Distinguish reported shipping from hospital-confirmed receipt.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4088" y="3639312"/>
            <a:ext cx="1065276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90472" y="3931920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15191C"/>
                </a:solidFill>
                <a:latin typeface="Aptos"/>
              </a:rPr>
              <a:t>Match medicine IDs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803904" y="391363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69717A"/>
                </a:solidFill>
                <a:latin typeface="Aptos"/>
              </a:rPr>
              <a:t>Match manufacturer product codes to hospital item codes, quantities and lots.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04088" y="4608576"/>
            <a:ext cx="1065276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" y="4901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90472" y="4901184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15191C"/>
                </a:solidFill>
                <a:latin typeface="Aptos"/>
              </a:rPr>
              <a:t>Review decisions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803904" y="488289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69717A"/>
                </a:solidFill>
                <a:latin typeface="Aptos"/>
              </a:rPr>
              <a:t>Test transfer feasibility and require pharmacy review before any action.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04088" y="5577840"/>
            <a:ext cx="10652760" cy="0"/>
          </a:xfrm>
          <a:prstGeom prst="line">
            <a:avLst/>
          </a:prstGeom>
          <a:noFill/>
          <a:ln w="12700">
            <a:solidFill>
              <a:srgbClr val="D9E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" y="5971032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087F78"/>
                </a:solidFill>
                <a:latin typeface="Aptos"/>
              </a:rPr>
              <a:t>What we built in response: joined data sources, product matching, shipment-versus-receipt checks and feasibility-gated transfer drafts.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PX / PHARMAX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5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FUTURE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1155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000">
                <a:solidFill>
                  <a:srgbClr val="15191C"/>
                </a:solidFill>
                <a:latin typeface="Aptos"/>
              </a:rPr>
              <a:t>Future development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5191C"/>
                </a:solidFill>
                <a:latin typeface="Aptos"/>
              </a:rPr>
              <a:t>Next steps for turning a validated prototype into an operational tool.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6519672"/>
            <a:ext cx="11128248" cy="0"/>
          </a:xfrm>
          <a:prstGeom prst="line">
            <a:avLst/>
          </a:prstGeom>
          <a:noFill/>
          <a:ln w="12700">
            <a:solidFill>
              <a:srgbClr val="33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47120" y="6547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9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1938528"/>
            <a:ext cx="457200" cy="457200"/>
          </a:xfrm>
          <a:prstGeom prst="ellipse">
            <a:avLst/>
          </a:prstGeom>
          <a:solidFill>
            <a:srgbClr val="E8F3F1"/>
          </a:solidFill>
          <a:ln w="12700">
            <a:solidFill>
              <a:srgbClr val="223B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2089404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1920240"/>
            <a:ext cx="38221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Authorized hospital connectors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96128" y="1920240"/>
            <a:ext cx="5376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Connect real inventory, purchasing and receiving systems with permission.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10588752" cy="0"/>
          </a:xfrm>
          <a:prstGeom prst="line">
            <a:avLst/>
          </a:prstGeom>
          <a:noFill/>
          <a:ln w="12700">
            <a:solidFill>
              <a:srgbClr val="3241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3209544"/>
            <a:ext cx="457200" cy="457200"/>
          </a:xfrm>
          <a:prstGeom prst="ellipse">
            <a:avLst/>
          </a:prstGeom>
          <a:solidFill>
            <a:srgbClr val="E8F3F1"/>
          </a:solidFill>
          <a:ln w="12700">
            <a:solidFill>
              <a:srgbClr val="223B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336882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191256"/>
            <a:ext cx="38221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monitoring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96128" y="3191256"/>
            <a:ext cx="5376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Refresh evidence and forecasts when supply or demand changes.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151376"/>
            <a:ext cx="10588752" cy="0"/>
          </a:xfrm>
          <a:prstGeom prst="line">
            <a:avLst/>
          </a:prstGeom>
          <a:noFill/>
          <a:ln w="12700">
            <a:solidFill>
              <a:srgbClr val="3241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04088" y="4480560"/>
            <a:ext cx="457200" cy="457200"/>
          </a:xfrm>
          <a:prstGeom prst="ellipse">
            <a:avLst/>
          </a:prstGeom>
          <a:solidFill>
            <a:srgbClr val="E8F3F1"/>
          </a:solidFill>
          <a:ln w="12700">
            <a:solidFill>
              <a:srgbClr val="223B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13816" y="4590288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81328" y="4462272"/>
            <a:ext cx="38221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1519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operational validation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96128" y="4462272"/>
            <a:ext cx="5376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15191C"/>
                </a:solidFill>
                <a:latin typeface="Aptos"/>
              </a:rPr>
              <a:t>Validate real approval roles, transfer ownership and confirmed delivery events.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422392"/>
            <a:ext cx="10588752" cy="0"/>
          </a:xfrm>
          <a:prstGeom prst="line">
            <a:avLst/>
          </a:prstGeom>
          <a:noFill/>
          <a:ln w="12700">
            <a:solidFill>
              <a:srgbClr val="3241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31520" y="6007608"/>
            <a:ext cx="10716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9717A"/>
                </a:solidFill>
                <a:latin typeface="Aptos"/>
              </a:rPr>
              <a:t>Current scope: public Baxter documents, synthetic hospital data and simulated transfer proposals.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764</Words>
  <Application>Microsoft Office PowerPoint</Application>
  <PresentationFormat>Widescreen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PharmaX — Evidence to action</dc:title>
  <dc:subject>Open Agent Hackathon 2026 technical submission</dc:subject>
  <dc:creator>PharmaX</dc:creator>
  <cp:lastModifiedBy>Jha, Sidhant Soumya</cp:lastModifiedBy>
  <cp:revision>2</cp:revision>
  <dcterms:created xsi:type="dcterms:W3CDTF">2026-10-27T21:25:36Z</dcterms:created>
  <dcterms:modified xsi:type="dcterms:W3CDTF">2026-10-27T21:55:50Z</dcterms:modified>
</cp:coreProperties>
</file>